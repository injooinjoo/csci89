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20" r:id="rId3"/>
    <p:sldId id="422" r:id="rId4"/>
    <p:sldId id="423" r:id="rId5"/>
    <p:sldId id="424" r:id="rId6"/>
    <p:sldId id="425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19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3" autoAdjust="0"/>
    <p:restoredTop sz="94660"/>
  </p:normalViewPr>
  <p:slideViewPr>
    <p:cSldViewPr>
      <p:cViewPr varScale="1">
        <p:scale>
          <a:sx n="100" d="100"/>
          <a:sy n="100" d="100"/>
        </p:scale>
        <p:origin x="237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7E92B-59FA-49FB-B014-1669F564A86F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AD7887-406F-46CC-9589-B5DF14B16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77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7B8707-E1CD-4CEF-A00B-04778EC3BE00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92987E-3A66-4994-9BE4-8BDBBB69D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57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0DCA77-AE49-4A9C-A909-3537221CB1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382D7-6004-43C9-AB02-56543EB3FDAB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066EC-5749-4585-9837-C7D7BD5CB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651"/>
            <a:ext cx="8229600" cy="715962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>
              <a:buClr>
                <a:srgbClr val="0070C0"/>
              </a:buClr>
              <a:buFont typeface="Wingdings" pitchFamily="2" charset="2"/>
              <a:buChar char="§"/>
              <a:defRPr sz="1800" baseline="0"/>
            </a:lvl1pPr>
            <a:lvl2pPr>
              <a:buClr>
                <a:srgbClr val="92D050"/>
              </a:buClr>
              <a:buFont typeface="Wingdings" pitchFamily="2" charset="2"/>
              <a:buChar char="§"/>
              <a:defRPr sz="1800" baseline="0"/>
            </a:lvl2pPr>
            <a:lvl3pPr>
              <a:buClr>
                <a:srgbClr val="FF0000"/>
              </a:buClr>
              <a:buFont typeface="Wingdings" pitchFamily="2" charset="2"/>
              <a:buChar char="§"/>
              <a:defRPr sz="1600" baseline="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10935-C4E4-4A31-A905-CBD3B88B377F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F8C3E294-9E12-4E24-B275-9BA1AC14E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22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A3077-BD5E-4DF2-86F4-B2787C87502F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6EFB9-832D-41AA-B6AA-BA3FDFDF2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5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9D7AE-2072-4CF1-81AF-6875EEBBE225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BD6B9-3A33-4A94-B724-9A8AE8A25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28BE-7261-4565-BDD9-9D13920F46F3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3FC6E-2B66-4D2D-9218-6A8657633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F4F18-6076-4F4D-8701-7E7E46FB9673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73807-B068-4863-956B-F1B336131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68202-4F72-4F7C-A5F1-E7B21F92F430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5520D-11A7-44C7-A268-AAA329E6ED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A5998-59A9-4C76-B55B-B07AD0665B82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A0E33-B153-4585-A659-757BD76D8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A7D98-E199-4E72-A4FE-85F4B3A9BF25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EC9DF-A8CA-492E-9A95-52D982BBB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D6C3C-A366-4DF9-81B4-5B0188B44BD9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36EC8-B6B4-4047-8E94-DB4977AA8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5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08A0-081A-40E0-AB91-AE760FA81C51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3A777-F07E-472E-A020-7B4D58052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31DDB-45BE-4D5A-8382-8E06A7A6251F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69CA-01CC-4DEF-B5D8-B239B6D1E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7832353-B273-4796-B91B-464BBEE56517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34D79D8-E937-4F7F-B5D1-0FDC90AE5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23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ERADNFa52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2EDA8-4D42-4A3F-8044-C86141763805}" type="slidenum">
              <a:rPr lang="en-US" sz="1600" b="1"/>
              <a:pPr>
                <a:defRPr/>
              </a:pPr>
              <a:t>1</a:t>
            </a:fld>
            <a:endParaRPr lang="en-US" sz="1600" b="1" dirty="0"/>
          </a:p>
        </p:txBody>
      </p:sp>
      <p:sp>
        <p:nvSpPr>
          <p:cNvPr id="3075" name="Title 1"/>
          <p:cNvSpPr>
            <a:spLocks noGrp="1"/>
          </p:cNvSpPr>
          <p:nvPr>
            <p:ph type="ctrTitle"/>
          </p:nvPr>
        </p:nvSpPr>
        <p:spPr>
          <a:xfrm>
            <a:off x="381000" y="1074784"/>
            <a:ext cx="8496300" cy="914400"/>
          </a:xfrm>
        </p:spPr>
        <p:txBody>
          <a:bodyPr/>
          <a:lstStyle/>
          <a:p>
            <a:pPr eaLnBrk="1" hangingPunct="1"/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  <a:t>Final Project</a:t>
            </a:r>
            <a:br>
              <a:rPr lang="en-US" altLang="en-US" sz="3200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</a:br>
            <a:r>
              <a:rPr lang="en-US" altLang="en-US" sz="3200" b="1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  <a:t> </a:t>
            </a:r>
            <a:r>
              <a:rPr lang="en-US" altLang="ko-KR" sz="3200" b="1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  <a:t>Structural Topic Modeling on News Headlines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6" name="Subtitle 2"/>
          <p:cNvSpPr>
            <a:spLocks noGrp="1"/>
          </p:cNvSpPr>
          <p:nvPr>
            <p:ph type="subTitle" idx="1"/>
          </p:nvPr>
        </p:nvSpPr>
        <p:spPr>
          <a:xfrm>
            <a:off x="1333500" y="2286000"/>
            <a:ext cx="6400800" cy="449172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Garamond" panose="02020404030301010803" pitchFamily="18" charset="0"/>
              </a:rPr>
              <a:t>InJoo Kim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77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28005" y="5038635"/>
            <a:ext cx="5487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CSCI S-89B Introduction to Natural Language Processing</a:t>
            </a:r>
          </a:p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Fall 2025</a:t>
            </a:r>
          </a:p>
          <a:p>
            <a:pPr algn="ctr">
              <a:defRPr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Harvard Extension School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Garamond" panose="02020404030301010803" pitchFamily="18" charset="0"/>
            </a:endParaRPr>
          </a:p>
          <a:p>
            <a:pPr algn="ctr">
              <a:defRPr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F3900-F92E-4439-8E37-E5F7918B6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550" y="2949217"/>
            <a:ext cx="1292899" cy="149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Motivation / Problem Statement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Why this project?</a:t>
            </a:r>
            <a:endParaRPr lang="en-US" altLang="ko-KR" dirty="0"/>
          </a:p>
          <a:p>
            <a:pPr lvl="1"/>
            <a:r>
              <a:rPr lang="en-US" altLang="ko-KR" dirty="0"/>
              <a:t>Digital media produces overwhelming volumes of news headlines.</a:t>
            </a:r>
          </a:p>
          <a:p>
            <a:pPr lvl="1"/>
            <a:r>
              <a:rPr lang="en-US" altLang="ko-KR" dirty="0"/>
              <a:t>Headlines are extremely short → limited context → hard to classify manually.</a:t>
            </a:r>
          </a:p>
          <a:p>
            <a:pPr lvl="1"/>
            <a:r>
              <a:rPr lang="en-US" altLang="ko-KR" dirty="0"/>
              <a:t>Need an automated, scalable method to uncover meaningful themes.</a:t>
            </a:r>
          </a:p>
          <a:p>
            <a:r>
              <a:rPr lang="en-US" altLang="ko-KR" b="1" dirty="0"/>
              <a:t>Why STM?</a:t>
            </a:r>
            <a:endParaRPr lang="en-US" altLang="ko-KR" dirty="0"/>
          </a:p>
          <a:p>
            <a:pPr lvl="1"/>
            <a:r>
              <a:rPr lang="en-US" altLang="ko-KR" dirty="0"/>
              <a:t>Incorporates metadata (e.g., publish date).</a:t>
            </a:r>
          </a:p>
          <a:p>
            <a:pPr lvl="1"/>
            <a:r>
              <a:rPr lang="en-US" altLang="ko-KR" dirty="0"/>
              <a:t>Discovers both topics and how they change over time.</a:t>
            </a:r>
          </a:p>
          <a:p>
            <a:pPr lvl="1"/>
            <a:r>
              <a:rPr lang="en-US" altLang="ko-KR" dirty="0"/>
              <a:t>More flexible and interpretable than LDA for real-world news data.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Key challenge: headlines are extremely short → sparse context → traditional classifiers struggle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2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59BF-3394-D0AB-DE28-F077E8A5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367245-9077-AA12-5356-EA6B01D4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Project Goals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3015D2-C1D0-A1B1-10F2-F111D25C5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This project aims to:</a:t>
            </a:r>
            <a:endParaRPr lang="en-US" altLang="ko-KR" dirty="0"/>
          </a:p>
          <a:p>
            <a:pPr lvl="1"/>
            <a:r>
              <a:rPr lang="en-US" altLang="ko-KR" dirty="0"/>
              <a:t>Identify latent topics within large-scale headline data.</a:t>
            </a:r>
          </a:p>
          <a:p>
            <a:pPr lvl="1"/>
            <a:r>
              <a:rPr lang="en-US" altLang="ko-KR" dirty="0"/>
              <a:t>Characterize topics using FREX and probability-based word lists.</a:t>
            </a:r>
          </a:p>
          <a:p>
            <a:pPr lvl="1"/>
            <a:r>
              <a:rPr lang="en-US" altLang="ko-KR" dirty="0"/>
              <a:t>Examine how topic prevalence shifts across time.</a:t>
            </a:r>
          </a:p>
          <a:p>
            <a:pPr lvl="1"/>
            <a:r>
              <a:rPr lang="en-US" altLang="ko-KR" dirty="0"/>
              <a:t>Provide a reproducible STM workflow using R Markdown.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C7F21DD0-B846-1717-FFC6-D440AFF4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9AEB4-502D-8E83-124A-8D55BD7D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015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9BC6E-ECDE-A50F-949C-BFAFAEBE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5EEC64-3FF7-7EC1-314F-CAC98BA8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Dataset Overview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5C4B27-6F88-CADA-B47B-E19824137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Dataset:</a:t>
            </a:r>
            <a:r>
              <a:rPr lang="en-US" altLang="ko-KR" dirty="0"/>
              <a:t> Kaggle News Headlines (≈150k–200k)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b="1" dirty="0"/>
              <a:t>Includes:</a:t>
            </a:r>
            <a:endParaRPr lang="en-US" altLang="ko-KR" dirty="0"/>
          </a:p>
          <a:p>
            <a:pPr lvl="1"/>
            <a:r>
              <a:rPr lang="en-US" altLang="ko-KR" dirty="0"/>
              <a:t>headline — short text string</a:t>
            </a:r>
          </a:p>
          <a:p>
            <a:pPr lvl="1"/>
            <a:r>
              <a:rPr lang="en-US" altLang="ko-KR" dirty="0" err="1"/>
              <a:t>publish_date</a:t>
            </a:r>
            <a:r>
              <a:rPr lang="en-US" altLang="ko-KR" dirty="0"/>
              <a:t> — metadata for temporal analysis</a:t>
            </a:r>
          </a:p>
          <a:p>
            <a:r>
              <a:rPr lang="en-US" altLang="ko-KR" b="1" dirty="0"/>
              <a:t>Characteristics:</a:t>
            </a:r>
            <a:endParaRPr lang="en-US" altLang="ko-KR" dirty="0"/>
          </a:p>
          <a:p>
            <a:pPr lvl="1"/>
            <a:r>
              <a:rPr lang="en-US" altLang="ko-KR" dirty="0"/>
              <a:t>Very short (5–12 words)</a:t>
            </a:r>
          </a:p>
          <a:p>
            <a:pPr lvl="1"/>
            <a:r>
              <a:rPr lang="en-US" altLang="ko-KR" dirty="0"/>
              <a:t>High frequency of named entities</a:t>
            </a:r>
          </a:p>
          <a:p>
            <a:pPr lvl="1"/>
            <a:r>
              <a:rPr lang="en-US" altLang="ko-KR" dirty="0"/>
              <a:t>Strong temporal signals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895A8129-6FF0-8A84-DDC4-BCFF513F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01EA5-A6A7-B761-ABCF-6E536F19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4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844F-D326-3833-CF31-05E94392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BD4401-73AF-4AD1-40E3-C9CE0FF1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Preprocessing Pipeline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8C7351-55B8-4E25-B71F-1B70B11E3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Steps:</a:t>
            </a:r>
            <a:endParaRPr lang="en-US" altLang="ko-KR" dirty="0"/>
          </a:p>
          <a:p>
            <a:pPr lvl="1"/>
            <a:r>
              <a:rPr lang="en-US" altLang="ko-KR" dirty="0"/>
              <a:t>Convert to lowercase</a:t>
            </a:r>
          </a:p>
          <a:p>
            <a:pPr lvl="1"/>
            <a:r>
              <a:rPr lang="en-US" altLang="ko-KR" dirty="0"/>
              <a:t>Remove punctuation and non-alphabetic characters</a:t>
            </a:r>
          </a:p>
          <a:p>
            <a:pPr lvl="1"/>
            <a:r>
              <a:rPr lang="en-US" altLang="ko-KR" dirty="0"/>
              <a:t>Tokenize using </a:t>
            </a:r>
            <a:r>
              <a:rPr lang="en-US" altLang="ko-KR" i="1" dirty="0" err="1"/>
              <a:t>quanteda</a:t>
            </a:r>
            <a:endParaRPr lang="en-US" altLang="ko-KR" dirty="0"/>
          </a:p>
          <a:p>
            <a:pPr lvl="1"/>
            <a:r>
              <a:rPr lang="en-US" altLang="ko-KR" dirty="0"/>
              <a:t>Remove English </a:t>
            </a:r>
            <a:r>
              <a:rPr lang="en-US" altLang="ko-KR" dirty="0" err="1"/>
              <a:t>stopwords</a:t>
            </a:r>
            <a:endParaRPr lang="en-US" altLang="ko-KR" dirty="0"/>
          </a:p>
          <a:p>
            <a:pPr lvl="1"/>
            <a:r>
              <a:rPr lang="en-US" altLang="ko-KR" dirty="0"/>
              <a:t>Build Document-Term Matrix (DTM)</a:t>
            </a:r>
          </a:p>
          <a:p>
            <a:pPr lvl="1"/>
            <a:r>
              <a:rPr lang="en-US" altLang="ko-KR" dirty="0"/>
              <a:t>Convert DTM into STM’s documents, vocab, meta format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Output:</a:t>
            </a:r>
            <a:r>
              <a:rPr lang="en-US" altLang="ko-KR" dirty="0"/>
              <a:t> Clean, sparse representation suitable for STM.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Key design choice:</a:t>
            </a:r>
          </a:p>
          <a:p>
            <a:pPr marL="0" indent="0">
              <a:buNone/>
            </a:pPr>
            <a:r>
              <a:rPr lang="en-US" altLang="ko-KR" dirty="0"/>
              <a:t>Aggressive preprocessing was required due to extreme sparsity of headlines.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53B21813-7293-B643-4EB1-DC3B12CC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DDD8C-C550-6072-77EE-0D927B29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89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30069-6513-0CCB-35A7-E037219C3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98095D-3BA0-B245-33C1-28A6CDF9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What is STM? (Theory Overview)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A00851-05DF-312A-1478-A786F6CAE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Structural Topic Modeling (STM):</a:t>
            </a:r>
            <a:endParaRPr lang="en-US" altLang="ko-KR" dirty="0"/>
          </a:p>
          <a:p>
            <a:pPr lvl="1"/>
            <a:r>
              <a:rPr lang="en-US" altLang="ko-KR" dirty="0"/>
              <a:t>Unsupervised method for discovering latent topics.</a:t>
            </a:r>
          </a:p>
          <a:p>
            <a:pPr lvl="1"/>
            <a:r>
              <a:rPr lang="en-US" altLang="ko-KR" dirty="0"/>
              <a:t>Extends LDA by modeling topic prevalence with metadata.</a:t>
            </a:r>
          </a:p>
          <a:p>
            <a:pPr lvl="1"/>
            <a:r>
              <a:rPr lang="en-US" altLang="ko-KR" dirty="0"/>
              <a:t>Uses a logistic-normal prior for flexibility.</a:t>
            </a:r>
          </a:p>
          <a:p>
            <a:r>
              <a:rPr lang="en-US" altLang="ko-KR" b="1" dirty="0"/>
              <a:t>Advantages:</a:t>
            </a:r>
            <a:endParaRPr lang="en-US" altLang="ko-KR" dirty="0"/>
          </a:p>
          <a:p>
            <a:pPr lvl="1"/>
            <a:r>
              <a:rPr lang="en-US" altLang="ko-KR" dirty="0"/>
              <a:t>Captures </a:t>
            </a:r>
            <a:r>
              <a:rPr lang="en-US" altLang="ko-KR" i="1" dirty="0"/>
              <a:t>how</a:t>
            </a:r>
            <a:r>
              <a:rPr lang="en-US" altLang="ko-KR" dirty="0"/>
              <a:t> topics change over time.</a:t>
            </a:r>
          </a:p>
          <a:p>
            <a:pPr lvl="1"/>
            <a:r>
              <a:rPr lang="en-US" altLang="ko-KR" dirty="0"/>
              <a:t>More interpretable via FREX words.</a:t>
            </a:r>
          </a:p>
          <a:p>
            <a:pPr lvl="1"/>
            <a:r>
              <a:rPr lang="en-US" altLang="ko-KR" dirty="0"/>
              <a:t>Designed for social science datasets like news.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D3DB19F3-3C6B-E3A9-5F9D-48D6B1659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0F93F-4929-E92B-FC4D-5EFC00BD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30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9823-5A95-656C-DE07-ACCC4B6F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C7A594-E806-0E2D-EF45-BBAE70EE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Model Configuration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7D5E14-556E-D49A-7F0D-39C305665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STM Parameters:</a:t>
            </a:r>
            <a:endParaRPr lang="en-US" altLang="ko-KR" dirty="0"/>
          </a:p>
          <a:p>
            <a:pPr lvl="1"/>
            <a:r>
              <a:rPr lang="en-US" altLang="ko-KR" dirty="0"/>
              <a:t>Number of topics: </a:t>
            </a:r>
            <a:r>
              <a:rPr lang="en-US" altLang="ko-KR" b="1" dirty="0"/>
              <a:t>K = 10</a:t>
            </a:r>
            <a:endParaRPr lang="en-US" altLang="ko-KR" dirty="0"/>
          </a:p>
          <a:p>
            <a:pPr lvl="1"/>
            <a:r>
              <a:rPr lang="en-US" altLang="ko-KR" dirty="0"/>
              <a:t>Prevalence formula: ~ </a:t>
            </a:r>
            <a:r>
              <a:rPr lang="en-US" altLang="ko-KR" dirty="0" err="1"/>
              <a:t>publish_date</a:t>
            </a:r>
            <a:endParaRPr lang="en-US" altLang="ko-KR" dirty="0"/>
          </a:p>
          <a:p>
            <a:pPr lvl="1"/>
            <a:r>
              <a:rPr lang="en-US" altLang="ko-KR" dirty="0"/>
              <a:t>Iterations: 75 EM iterations</a:t>
            </a:r>
          </a:p>
          <a:p>
            <a:pPr lvl="1"/>
            <a:r>
              <a:rPr lang="en-US" altLang="ko-KR" dirty="0"/>
              <a:t>Initialization: spectral</a:t>
            </a:r>
          </a:p>
          <a:p>
            <a:pPr lvl="1"/>
            <a:r>
              <a:rPr lang="en-US" altLang="ko-KR" dirty="0"/>
              <a:t>Seed set for reproducibility</a:t>
            </a:r>
          </a:p>
          <a:p>
            <a:r>
              <a:rPr lang="en-US" altLang="ko-KR" b="1" dirty="0"/>
              <a:t>Goal:</a:t>
            </a:r>
            <a:r>
              <a:rPr lang="en-US" altLang="ko-KR" dirty="0"/>
              <a:t> Balanced interpretability + distinct topic separation.</a:t>
            </a:r>
          </a:p>
          <a:p>
            <a:endParaRPr lang="en-US" altLang="ko-KR" dirty="0"/>
          </a:p>
          <a:p>
            <a:r>
              <a:rPr lang="en-US" altLang="ko-KR" dirty="0"/>
              <a:t>K was selected to balance interpretability and topic separation rather than maximizing likelihood.</a:t>
            </a:r>
          </a:p>
          <a:p>
            <a:endParaRPr lang="en-US" altLang="ko-KR" dirty="0"/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C3A4BA98-98BB-6813-4458-5C093DA1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573D3-FE2B-C205-420B-6E5BA537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52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9F4F-3EBC-AA7C-BDEF-1B5E4DBB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BB384C-FCEC-BC30-452C-BC3F1626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Topic Summary (Main Result)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165DC1-7D0A-22CC-8A1B-12E87FC1F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14500"/>
            <a:ext cx="8229600" cy="3429000"/>
          </a:xfrm>
        </p:spPr>
        <p:txBody>
          <a:bodyPr/>
          <a:lstStyle/>
          <a:p>
            <a:r>
              <a:rPr lang="en-US" altLang="ko-KR" b="1" dirty="0"/>
              <a:t>STM discovered 10 coherent topics:</a:t>
            </a:r>
            <a:endParaRPr lang="en-US" altLang="ko-KR" dirty="0"/>
          </a:p>
          <a:p>
            <a:pPr lvl="1"/>
            <a:r>
              <a:rPr lang="en-US" altLang="ko-KR" dirty="0"/>
              <a:t>U.S. politics and elections</a:t>
            </a:r>
          </a:p>
          <a:p>
            <a:pPr lvl="1"/>
            <a:r>
              <a:rPr lang="en-US" altLang="ko-KR" dirty="0"/>
              <a:t>Business and economic news</a:t>
            </a:r>
          </a:p>
          <a:p>
            <a:pPr lvl="1"/>
            <a:r>
              <a:rPr lang="en-US" altLang="ko-KR" b="1" dirty="0"/>
              <a:t>Crime and law enforcement</a:t>
            </a:r>
          </a:p>
          <a:p>
            <a:pPr lvl="1"/>
            <a:r>
              <a:rPr lang="en-US" altLang="ko-KR" b="1" dirty="0"/>
              <a:t>Politics &amp; Public Policy</a:t>
            </a:r>
          </a:p>
          <a:p>
            <a:pPr lvl="1"/>
            <a:r>
              <a:rPr lang="en-US" altLang="ko-KR" dirty="0"/>
              <a:t>Technology and innovation</a:t>
            </a:r>
          </a:p>
          <a:p>
            <a:pPr lvl="1"/>
            <a:r>
              <a:rPr lang="en-US" altLang="ko-KR" dirty="0"/>
              <a:t>Legal/judicial issues</a:t>
            </a:r>
          </a:p>
          <a:p>
            <a:pPr lvl="1"/>
            <a:r>
              <a:rPr lang="en-US" altLang="ko-KR" b="1" dirty="0"/>
              <a:t>Public health and COVID</a:t>
            </a:r>
          </a:p>
          <a:p>
            <a:pPr lvl="1"/>
            <a:r>
              <a:rPr lang="en-US" altLang="ko-KR" dirty="0"/>
              <a:t>Climate and environmental events</a:t>
            </a:r>
          </a:p>
          <a:p>
            <a:pPr lvl="1"/>
            <a:r>
              <a:rPr lang="en-US" altLang="ko-KR" dirty="0"/>
              <a:t>Sports</a:t>
            </a:r>
          </a:p>
          <a:p>
            <a:pPr lvl="1"/>
            <a:r>
              <a:rPr lang="en-US" altLang="ko-KR" dirty="0"/>
              <a:t>International affairs</a:t>
            </a:r>
          </a:p>
          <a:p>
            <a:pPr lvl="1"/>
            <a:r>
              <a:rPr lang="en-US" altLang="ko-KR" dirty="0"/>
              <a:t>Entertainment and culture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71A0D0AB-596D-8E20-9A2D-239AD6B9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73A89-01E7-2AC2-0523-3A4E576B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6E5F8B-8E54-01D8-ED88-AF6AD11C78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81" y="808038"/>
            <a:ext cx="5290819" cy="330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43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928DD-8666-3EFA-ED05-C936B69E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AB63D-2ABA-C0B4-8EDA-A8F76EE9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Topic Prevalence Across Corpus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8EBFF6-9964-492D-269C-BFEF269B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Key observations:</a:t>
            </a:r>
            <a:endParaRPr lang="en-US" altLang="ko-KR" dirty="0"/>
          </a:p>
          <a:p>
            <a:pPr lvl="1"/>
            <a:r>
              <a:rPr lang="en-US" altLang="ko-KR" dirty="0"/>
              <a:t>Politics, crime, and economy dominate the news cycle.</a:t>
            </a:r>
          </a:p>
          <a:p>
            <a:pPr lvl="1"/>
            <a:r>
              <a:rPr lang="en-US" altLang="ko-KR" dirty="0"/>
              <a:t>Tech and global affairs appear consistently but less frequently.</a:t>
            </a:r>
          </a:p>
          <a:p>
            <a:pPr lvl="1"/>
            <a:r>
              <a:rPr lang="en-US" altLang="ko-KR" dirty="0"/>
              <a:t>Sports and entertainment topics are lower but still coherent.</a:t>
            </a:r>
          </a:p>
          <a:p>
            <a:r>
              <a:rPr lang="en-US" altLang="ko-KR" b="1" dirty="0"/>
              <a:t>Interpretation:</a:t>
            </a:r>
            <a:r>
              <a:rPr lang="en-US" altLang="ko-KR" dirty="0"/>
              <a:t> reflects real-world editorial prioritization.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8359DFA5-A463-C488-AD21-ECE89E96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60C2C-CC91-B1D5-AED8-D5025612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67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A86DF-A864-2223-808F-1B33C501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218666-E270-5962-A59E-378B4FB2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Temporal Trends (STM Covariate Effects)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548408-AEA3-24F6-F295-4CB213E7D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Temporal effects reveal:</a:t>
            </a:r>
            <a:endParaRPr lang="en-US" altLang="ko-KR" dirty="0"/>
          </a:p>
          <a:p>
            <a:pPr lvl="1"/>
            <a:r>
              <a:rPr lang="en-US" altLang="ko-KR" b="1" dirty="0"/>
              <a:t>Political topics</a:t>
            </a:r>
            <a:r>
              <a:rPr lang="en-US" altLang="ko-KR" dirty="0"/>
              <a:t> spike during election cycles.</a:t>
            </a:r>
          </a:p>
          <a:p>
            <a:pPr lvl="1"/>
            <a:r>
              <a:rPr lang="en-US" altLang="ko-KR" b="1" dirty="0"/>
              <a:t>Health topics</a:t>
            </a:r>
            <a:r>
              <a:rPr lang="en-US" altLang="ko-KR" dirty="0"/>
              <a:t> surge sharply during COVID.</a:t>
            </a:r>
          </a:p>
          <a:p>
            <a:pPr lvl="1"/>
            <a:r>
              <a:rPr lang="en-US" altLang="ko-KR" b="1" dirty="0"/>
              <a:t>Economic topics</a:t>
            </a:r>
            <a:r>
              <a:rPr lang="en-US" altLang="ko-KR" dirty="0"/>
              <a:t> fluctuate with major financial events.</a:t>
            </a:r>
          </a:p>
          <a:p>
            <a:pPr lvl="1"/>
            <a:r>
              <a:rPr lang="en-US" altLang="ko-KR" b="1" dirty="0"/>
              <a:t>Climate topics</a:t>
            </a:r>
            <a:r>
              <a:rPr lang="en-US" altLang="ko-KR" dirty="0"/>
              <a:t> show clear seasonal patterns.</a:t>
            </a:r>
          </a:p>
          <a:p>
            <a:r>
              <a:rPr lang="en-US" altLang="ko-KR" b="1" dirty="0"/>
              <a:t>Insight:</a:t>
            </a:r>
            <a:r>
              <a:rPr lang="en-US" altLang="ko-KR" dirty="0"/>
              <a:t> STM captures real-world event cycles via metadata.</a:t>
            </a:r>
          </a:p>
          <a:p>
            <a:endParaRPr lang="en-US" altLang="ko-KR" dirty="0"/>
          </a:p>
          <a:p>
            <a:r>
              <a:rPr lang="en-US" altLang="ko-KR" dirty="0"/>
              <a:t>These temporal patterns align closely with real-world events, validating the model’s external plausibility.</a:t>
            </a:r>
          </a:p>
          <a:p>
            <a:endParaRPr lang="en-US" altLang="ko-KR" dirty="0"/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F4861FFB-D666-E539-CC1D-A799E2C4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1C607-5DF6-CE48-B2CC-6A5F003C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3" name="그림 2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84B5FB-B27C-1A9E-FBAA-5F800C544B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760" y="3581400"/>
            <a:ext cx="445008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28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C640-847C-AB3F-DCE9-AE365494D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827902-BB9F-82E3-C24B-AE45D54F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Word Cloud Visualization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9C0966-F121-B5E9-6A08-73C47C9D3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Purpose:</a:t>
            </a:r>
            <a:r>
              <a:rPr lang="en-US" altLang="ko-KR" dirty="0"/>
              <a:t> intuitive representation of high-probability terms.</a:t>
            </a:r>
          </a:p>
          <a:p>
            <a:r>
              <a:rPr lang="en-US" altLang="ko-KR" b="1" dirty="0"/>
              <a:t>Examples:</a:t>
            </a:r>
            <a:endParaRPr lang="en-US" altLang="ko-KR" dirty="0"/>
          </a:p>
          <a:p>
            <a:pPr lvl="1"/>
            <a:r>
              <a:rPr lang="en-US" altLang="ko-KR" dirty="0"/>
              <a:t>Politics topic: </a:t>
            </a:r>
            <a:r>
              <a:rPr lang="en-US" altLang="ko-KR" i="1" dirty="0"/>
              <a:t>trump, election, vote, poll, campaign</a:t>
            </a:r>
            <a:endParaRPr lang="en-US" altLang="ko-KR" dirty="0"/>
          </a:p>
          <a:p>
            <a:pPr lvl="1"/>
            <a:r>
              <a:rPr lang="en-US" altLang="ko-KR" dirty="0"/>
              <a:t>Crime topic: </a:t>
            </a:r>
            <a:r>
              <a:rPr lang="en-US" altLang="ko-KR" i="1" dirty="0"/>
              <a:t>police, shooting, arrest, suspect</a:t>
            </a:r>
            <a:endParaRPr lang="en-US" altLang="ko-KR" dirty="0"/>
          </a:p>
          <a:p>
            <a:pPr lvl="1"/>
            <a:r>
              <a:rPr lang="en-US" altLang="ko-KR" dirty="0"/>
              <a:t>Tech topic: </a:t>
            </a:r>
            <a:r>
              <a:rPr lang="en-US" altLang="ko-KR" i="1" dirty="0"/>
              <a:t>google, apple, ai, launch</a:t>
            </a:r>
            <a:endParaRPr lang="en-US" altLang="ko-KR" dirty="0"/>
          </a:p>
          <a:p>
            <a:r>
              <a:rPr lang="en-US" altLang="ko-KR" b="1" dirty="0"/>
              <a:t>Helps:</a:t>
            </a:r>
            <a:r>
              <a:rPr lang="en-US" altLang="ko-KR" dirty="0"/>
              <a:t> quickly validate topic interpretability.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50C4E641-2CCF-B917-924B-1586638C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54C18-3A0D-AA17-00E6-2BCAAF16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3" name="그림 2" descr="텍스트, 영수증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D70D2D-2E1F-F0A9-5B7B-A6D23F997B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050" y="3048000"/>
            <a:ext cx="2743200" cy="2743200"/>
          </a:xfrm>
          <a:prstGeom prst="rect">
            <a:avLst/>
          </a:prstGeom>
        </p:spPr>
      </p:pic>
      <p:pic>
        <p:nvPicPr>
          <p:cNvPr id="8" name="그림 7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07E842-00AC-E118-F4C5-DDCC6704C0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048000"/>
            <a:ext cx="2971800" cy="2971800"/>
          </a:xfrm>
          <a:prstGeom prst="rect">
            <a:avLst/>
          </a:prstGeom>
        </p:spPr>
      </p:pic>
      <p:pic>
        <p:nvPicPr>
          <p:cNvPr id="10" name="그림 9" descr="텍스트, 폰트, 영수증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10E78F-3B82-2C80-7C58-55E52B2BA4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086100"/>
            <a:ext cx="2895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1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B19B-A3BE-F5A2-A6F2-A93C53D9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F7F827-FB51-DE69-1DC1-83DEDFD02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Topic Quality Evaluation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3E6D17-6666-16F5-1834-3D61BF2B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Evaluation metrics:</a:t>
            </a:r>
            <a:endParaRPr lang="en-US" altLang="ko-KR" dirty="0"/>
          </a:p>
          <a:p>
            <a:pPr lvl="1"/>
            <a:r>
              <a:rPr lang="en-US" altLang="ko-KR" b="1" dirty="0"/>
              <a:t>Semantic coherence</a:t>
            </a:r>
            <a:r>
              <a:rPr lang="en-US" altLang="ko-KR" dirty="0"/>
              <a:t> (word co-occurrence strength)</a:t>
            </a:r>
          </a:p>
          <a:p>
            <a:pPr lvl="1"/>
            <a:r>
              <a:rPr lang="en-US" altLang="ko-KR" b="1" dirty="0"/>
              <a:t>Exclusivity</a:t>
            </a:r>
            <a:r>
              <a:rPr lang="en-US" altLang="ko-KR" dirty="0"/>
              <a:t> (topic-specific vs shared terms)</a:t>
            </a:r>
          </a:p>
          <a:p>
            <a:r>
              <a:rPr lang="en-US" altLang="ko-KR" b="1" dirty="0"/>
              <a:t>Findings:</a:t>
            </a:r>
            <a:endParaRPr lang="en-US" altLang="ko-KR" dirty="0"/>
          </a:p>
          <a:p>
            <a:pPr lvl="1"/>
            <a:r>
              <a:rPr lang="en-US" altLang="ko-KR" dirty="0"/>
              <a:t>Politics, crime, and economy = highest coherence.</a:t>
            </a:r>
          </a:p>
          <a:p>
            <a:pPr lvl="1"/>
            <a:r>
              <a:rPr lang="en-US" altLang="ko-KR" dirty="0"/>
              <a:t>Entertainment / sports = lower exclusivity due to shared vocabulary.</a:t>
            </a:r>
          </a:p>
          <a:p>
            <a:pPr lvl="1"/>
            <a:r>
              <a:rPr lang="en-US" altLang="ko-KR" dirty="0"/>
              <a:t>K=10 achieves a good balance.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06210C50-D93F-5F03-4395-D4492A32E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C8E93-F804-A4C7-7666-31FA7435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022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0D46-A8DE-E778-AF6B-E00ADC63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7770AF-876D-8411-645D-A81D915A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What Worked / What Didn’t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F5201A-DADC-DEFD-FCB9-7A21F9240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Worked well:</a:t>
            </a:r>
            <a:endParaRPr lang="en-US" altLang="ko-KR" dirty="0"/>
          </a:p>
          <a:p>
            <a:pPr lvl="1"/>
            <a:r>
              <a:rPr lang="en-US" altLang="ko-KR" dirty="0"/>
              <a:t>STM handled metadata effectively.</a:t>
            </a:r>
          </a:p>
          <a:p>
            <a:pPr lvl="1"/>
            <a:r>
              <a:rPr lang="en-US" altLang="ko-KR" dirty="0"/>
              <a:t>Clear, interpretable topics emerged.</a:t>
            </a:r>
          </a:p>
          <a:p>
            <a:pPr lvl="1"/>
            <a:r>
              <a:rPr lang="en-US" altLang="ko-KR" dirty="0"/>
              <a:t>Temporal trends aligned with real-world events.</a:t>
            </a:r>
          </a:p>
          <a:p>
            <a:pPr lvl="1"/>
            <a:r>
              <a:rPr lang="en-US" altLang="ko-KR" dirty="0"/>
              <a:t>R Markdown workflow ensured reproducibility.</a:t>
            </a:r>
          </a:p>
          <a:p>
            <a:r>
              <a:rPr lang="en-US" altLang="ko-KR" b="1" dirty="0"/>
              <a:t>Challenges:</a:t>
            </a:r>
            <a:endParaRPr lang="en-US" altLang="ko-KR" dirty="0"/>
          </a:p>
          <a:p>
            <a:pPr lvl="1"/>
            <a:r>
              <a:rPr lang="en-US" altLang="ko-KR" dirty="0"/>
              <a:t>Headlines are extremely short → sparse context.</a:t>
            </a:r>
          </a:p>
          <a:p>
            <a:pPr lvl="1"/>
            <a:r>
              <a:rPr lang="en-US" altLang="ko-KR" dirty="0"/>
              <a:t>Named entities dominated some topics.</a:t>
            </a:r>
          </a:p>
          <a:p>
            <a:pPr lvl="1"/>
            <a:r>
              <a:rPr lang="en-US" altLang="ko-KR" dirty="0"/>
              <a:t>Selecting K required trial and error.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STM proved especially effective when metadata carries meaningful signal.</a:t>
            </a:r>
          </a:p>
          <a:p>
            <a:endParaRPr lang="en-US" altLang="ko-KR" dirty="0"/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BE484DD9-B357-8EB0-4D8B-3A18073D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A5A95-1B80-6E48-6E6B-E00249F8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0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0739C-EAF5-E282-5F31-DB675971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D33250-EC5D-7A84-8CE8-7DECC1735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Lessons Learned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914AD09E-9520-CC6B-B947-4B3C6CEC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A5E32-B851-B47A-82D7-398E5D74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BA918E2-4EC2-E347-372F-E7766E87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Metadata-aware models (STM) outperform basic LDA for news data.</a:t>
            </a:r>
          </a:p>
          <a:p>
            <a:r>
              <a:rPr lang="en-US" altLang="ko-KR" dirty="0"/>
              <a:t>Preprocessing quality directly impacts topic interpretability.</a:t>
            </a:r>
          </a:p>
          <a:p>
            <a:r>
              <a:rPr lang="en-US" altLang="ko-KR" dirty="0"/>
              <a:t>Visualizations (summary plots, word clouds) are essential.</a:t>
            </a:r>
          </a:p>
          <a:p>
            <a:r>
              <a:rPr lang="en-US" altLang="ko-KR" dirty="0"/>
              <a:t>Reproducible workflows simplify debugging and iteration.</a:t>
            </a:r>
          </a:p>
          <a:p>
            <a:r>
              <a:rPr lang="en-US" altLang="ko-KR" b="1" dirty="0"/>
              <a:t>Overall:</a:t>
            </a:r>
            <a:r>
              <a:rPr lang="en-US" altLang="ko-KR" dirty="0"/>
              <a:t> STM is highly suitable for short-text trend analysis.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8445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Final Slide + Video Link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Thank you!</a:t>
            </a:r>
            <a:endParaRPr lang="en-US" altLang="ko-KR" dirty="0"/>
          </a:p>
          <a:p>
            <a:r>
              <a:rPr lang="en-US" altLang="ko-KR" b="1" dirty="0"/>
              <a:t>Video Presentation:</a:t>
            </a:r>
            <a:br>
              <a:rPr lang="en-US" altLang="ko-KR" dirty="0"/>
            </a:br>
            <a:r>
              <a:rPr lang="en-US" altLang="ko-KR" dirty="0">
                <a:hlinkClick r:id="rId2"/>
              </a:rPr>
              <a:t>https://www.youtube.com/watch?v=eERADNFa528</a:t>
            </a:r>
            <a:endParaRPr lang="en-US" altLang="ko-KR" dirty="0"/>
          </a:p>
          <a:p>
            <a:r>
              <a:rPr lang="en-US" altLang="ko-KR" b="1" dirty="0"/>
              <a:t>Code &amp; Report Available in Final Submission ZIP</a:t>
            </a:r>
            <a:endParaRPr lang="en-US" altLang="ko-KR" dirty="0"/>
          </a:p>
          <a:p>
            <a:r>
              <a:rPr lang="en-US" altLang="ko-KR" dirty="0"/>
              <a:t>Metadata-aware models (STM) outperform basic LDA for news data.</a:t>
            </a:r>
          </a:p>
          <a:p>
            <a:r>
              <a:rPr lang="en-US" altLang="ko-KR" dirty="0"/>
              <a:t>Preprocessing quality directly impacts topic interpretability.</a:t>
            </a:r>
          </a:p>
          <a:p>
            <a:r>
              <a:rPr lang="en-US" altLang="ko-KR" dirty="0"/>
              <a:t>Visualizations (summary plots, word clouds) are essential.</a:t>
            </a:r>
          </a:p>
          <a:p>
            <a:r>
              <a:rPr lang="en-US" altLang="ko-KR" dirty="0"/>
              <a:t>Reproducible workflows simplify debugging and iteration.</a:t>
            </a:r>
          </a:p>
          <a:p>
            <a:r>
              <a:rPr lang="en-US" altLang="ko-KR" b="1" dirty="0"/>
              <a:t>Overall:</a:t>
            </a:r>
            <a:r>
              <a:rPr lang="en-US" altLang="ko-KR" dirty="0"/>
              <a:t> STM is highly suitable for short-text trend analysis.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16384</TotalTime>
  <Words>895</Words>
  <Application>Microsoft Office PowerPoint</Application>
  <PresentationFormat>화면 슬라이드 쇼(4:3)</PresentationFormat>
  <Paragraphs>164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Arial</vt:lpstr>
      <vt:lpstr>Calibri</vt:lpstr>
      <vt:lpstr>Garamond</vt:lpstr>
      <vt:lpstr>Times New Roman</vt:lpstr>
      <vt:lpstr>Wingdings</vt:lpstr>
      <vt:lpstr>Office Theme</vt:lpstr>
      <vt:lpstr> Final Project  Structural Topic Modeling on News Headlines</vt:lpstr>
      <vt:lpstr>Motivation / Problem Statement</vt:lpstr>
      <vt:lpstr>Project Goals</vt:lpstr>
      <vt:lpstr>Dataset Overview</vt:lpstr>
      <vt:lpstr>Preprocessing Pipeline</vt:lpstr>
      <vt:lpstr>What is STM? (Theory Overview)</vt:lpstr>
      <vt:lpstr>Model Configuration</vt:lpstr>
      <vt:lpstr>Topic Summary (Main Result)</vt:lpstr>
      <vt:lpstr>Topic Prevalence Across Corpus</vt:lpstr>
      <vt:lpstr>Temporal Trends (STM Covariate Effects)</vt:lpstr>
      <vt:lpstr>Word Cloud Visualization</vt:lpstr>
      <vt:lpstr>Topic Quality Evaluation</vt:lpstr>
      <vt:lpstr>What Worked / What Didn’t</vt:lpstr>
      <vt:lpstr>Lessons Learned</vt:lpstr>
      <vt:lpstr>Final Slide + Video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zdjordje</dc:creator>
  <cp:lastModifiedBy>InJoo Kim</cp:lastModifiedBy>
  <cp:revision>892</cp:revision>
  <cp:lastPrinted>2012-11-30T20:59:45Z</cp:lastPrinted>
  <dcterms:created xsi:type="dcterms:W3CDTF">2006-08-16T00:00:00Z</dcterms:created>
  <dcterms:modified xsi:type="dcterms:W3CDTF">2025-12-15T19:17:41Z</dcterms:modified>
</cp:coreProperties>
</file>